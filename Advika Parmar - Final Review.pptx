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ljWY0SIoK9XO0Na08+8gPUsTm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2400"/>
              <a:buFont typeface="Verdana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" name="Google Shape;15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502920" y="3737610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3600"/>
              <a:buFont typeface="Verdana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607224" y="434578"/>
            <a:ext cx="3931920" cy="594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4630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2" type="body"/>
          </p:nvPr>
        </p:nvSpPr>
        <p:spPr>
          <a:xfrm>
            <a:off x="4652169" y="434578"/>
            <a:ext cx="3931920" cy="594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792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3" type="body"/>
          </p:nvPr>
        </p:nvSpPr>
        <p:spPr>
          <a:xfrm>
            <a:off x="607224" y="1085850"/>
            <a:ext cx="3931920" cy="261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4" type="body"/>
          </p:nvPr>
        </p:nvSpPr>
        <p:spPr>
          <a:xfrm>
            <a:off x="4652169" y="1085850"/>
            <a:ext cx="3931920" cy="2617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392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792"/>
              <a:buChar char="◦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/>
          <p:nvPr/>
        </p:nvSpPr>
        <p:spPr>
          <a:xfrm>
            <a:off x="304801" y="246889"/>
            <a:ext cx="8532055" cy="4647614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418597" y="325622"/>
            <a:ext cx="8306809" cy="2331720"/>
          </a:xfrm>
          <a:prstGeom prst="roundRect">
            <a:avLst>
              <a:gd fmla="val 4578" name="adj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8"/>
          <p:cNvSpPr txBox="1"/>
          <p:nvPr>
            <p:ph type="ctrTitle"/>
          </p:nvPr>
        </p:nvSpPr>
        <p:spPr>
          <a:xfrm>
            <a:off x="722376" y="1365155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4500"/>
              <a:buFont typeface="Verdana"/>
              <a:buNone/>
              <a:defRPr b="1" sz="4500">
                <a:solidFill>
                  <a:srgbClr val="6F71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722376" y="2763774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67676"/>
                </a:solidFill>
              </a:defRPr>
            </a:lvl1pPr>
            <a:lvl2pPr lvl="1" algn="ctr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None/>
              <a:defRPr/>
            </a:lvl4pPr>
            <a:lvl5pPr lvl="4" algn="ctr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502920" y="3737610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502920" y="397764"/>
            <a:ext cx="8183880" cy="314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/>
          <p:nvPr/>
        </p:nvSpPr>
        <p:spPr>
          <a:xfrm>
            <a:off x="304801" y="246889"/>
            <a:ext cx="8532055" cy="4647614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"/>
          <p:cNvSpPr/>
          <p:nvPr/>
        </p:nvSpPr>
        <p:spPr>
          <a:xfrm>
            <a:off x="418597" y="325622"/>
            <a:ext cx="8306809" cy="3255997"/>
          </a:xfrm>
          <a:prstGeom prst="roundRect">
            <a:avLst>
              <a:gd fmla="val 2127" name="adj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468344" y="3696462"/>
            <a:ext cx="8183880" cy="50749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3600"/>
              <a:buFont typeface="Verdana"/>
              <a:buNone/>
              <a:defRPr b="0" sz="3600" cap="none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468344" y="4218363"/>
            <a:ext cx="81838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8850" spcFirstLastPara="1" rIns="91425" wrap="square" tIns="0">
            <a:normAutofit/>
          </a:bodyPr>
          <a:lstStyle>
            <a:lvl1pPr indent="-228600" lvl="0" marL="457200" marR="368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  <a:defRPr b="0" sz="1800">
                <a:solidFill>
                  <a:srgbClr val="3A3B66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56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type="title"/>
          </p:nvPr>
        </p:nvSpPr>
        <p:spPr>
          <a:xfrm>
            <a:off x="502920" y="3739193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14352" y="397764"/>
            <a:ext cx="3931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6068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4755360" y="397764"/>
            <a:ext cx="39319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6068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80"/>
              <a:buChar char="⚫"/>
              <a:defRPr sz="2600"/>
            </a:lvl1pPr>
            <a:lvl2pPr indent="-3683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200"/>
              <a:buChar char="◦"/>
              <a:defRPr sz="2200"/>
            </a:lvl2pPr>
            <a:lvl3pPr indent="-355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56616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Char char="◦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502920" y="3739193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304801" y="246889"/>
            <a:ext cx="8532055" cy="4647614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5538784" y="400050"/>
            <a:ext cx="2971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Verdana"/>
              <a:buNone/>
              <a:defRPr b="1" sz="2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538847" y="1085852"/>
            <a:ext cx="2971800" cy="31545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marR="1841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008"/>
              <a:buNone/>
              <a:defRPr sz="9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None/>
              <a:defRPr sz="900"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2" type="body"/>
          </p:nvPr>
        </p:nvSpPr>
        <p:spPr>
          <a:xfrm>
            <a:off x="761373" y="697608"/>
            <a:ext cx="4626159" cy="3543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240"/>
              <a:buChar char="⚫"/>
              <a:defRPr sz="2800">
                <a:solidFill>
                  <a:schemeClr val="dk1"/>
                </a:solidFill>
              </a:defRPr>
            </a:lvl1pPr>
            <a:lvl2pPr indent="-3937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600"/>
              <a:buChar char="◦"/>
              <a:defRPr sz="2600">
                <a:solidFill>
                  <a:schemeClr val="dk1"/>
                </a:solidFill>
              </a:defRPr>
            </a:lvl2pPr>
            <a:lvl3pPr indent="-3810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chemeClr val="dk1"/>
                </a:solidFill>
              </a:defRPr>
            </a:lvl3pPr>
            <a:lvl4pPr indent="-370840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240"/>
              <a:buChar char="◦"/>
              <a:defRPr sz="2000">
                <a:solidFill>
                  <a:schemeClr val="dk1"/>
                </a:solidFill>
              </a:defRPr>
            </a:lvl4pPr>
            <a:lvl5pPr indent="-3556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000"/>
              <a:buChar char="●"/>
              <a:defRPr sz="20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700"/>
              <a:buNone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304801" y="246889"/>
            <a:ext cx="8532055" cy="4647614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400801" y="325622"/>
            <a:ext cx="2324605" cy="3257550"/>
          </a:xfrm>
          <a:prstGeom prst="round1Rect">
            <a:avLst>
              <a:gd fmla="val 2748" name="adj"/>
            </a:avLst>
          </a:prstGeom>
          <a:solidFill>
            <a:srgbClr val="1C1C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3759042"/>
            <a:ext cx="82296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3600"/>
              <a:buFont typeface="Verdana"/>
              <a:buNone/>
              <a:defRPr b="0" sz="3600">
                <a:solidFill>
                  <a:srgbClr val="76767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6462712" y="400050"/>
            <a:ext cx="2240280" cy="3158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FFFFFF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200"/>
              <a:buChar char="◦"/>
              <a:defRPr sz="1200">
                <a:solidFill>
                  <a:srgbClr val="FFFFFF"/>
                </a:solidFill>
              </a:defRPr>
            </a:lvl2pPr>
            <a:lvl3pPr indent="-2921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rgbClr val="FFFFFF"/>
                </a:solidFill>
              </a:defRPr>
            </a:lvl3pPr>
            <a:lvl4pPr indent="-292608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1008"/>
              <a:buChar char="◦"/>
              <a:defRPr sz="900">
                <a:solidFill>
                  <a:srgbClr val="FFFFFF"/>
                </a:solidFill>
              </a:defRPr>
            </a:lvl4pPr>
            <a:lvl5pPr indent="-28575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900"/>
              <a:buChar char="●"/>
              <a:defRPr sz="900">
                <a:solidFill>
                  <a:srgbClr val="FFFFFF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0" name="Google Shape;80;p15"/>
          <p:cNvSpPr/>
          <p:nvPr>
            <p:ph idx="2" type="pic"/>
          </p:nvPr>
        </p:nvSpPr>
        <p:spPr>
          <a:xfrm>
            <a:off x="421480" y="326826"/>
            <a:ext cx="5925312" cy="3257550"/>
          </a:xfrm>
          <a:prstGeom prst="snipRoundRect">
            <a:avLst>
              <a:gd fmla="val 1040" name="adj1"/>
              <a:gd fmla="val 0" name="adj2"/>
            </a:avLst>
          </a:prstGeom>
          <a:solidFill>
            <a:srgbClr val="4D4D4D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502920" y="3737610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 rot="5400000">
            <a:off x="3024378" y="-2123694"/>
            <a:ext cx="3140964" cy="8183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 rot="5400000">
            <a:off x="5648326" y="1381129"/>
            <a:ext cx="394334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 rot="5400000">
            <a:off x="1533525" y="-600072"/>
            <a:ext cx="3943351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3pPr>
            <a:lvl4pPr indent="-356616" lvl="3" marL="182880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SzPts val="2016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/>
          <p:nvPr/>
        </p:nvSpPr>
        <p:spPr>
          <a:xfrm>
            <a:off x="304801" y="246889"/>
            <a:ext cx="8532055" cy="4647614"/>
          </a:xfrm>
          <a:prstGeom prst="roundRect">
            <a:avLst>
              <a:gd fmla="val 2081" name="adj"/>
            </a:avLst>
          </a:prstGeom>
          <a:gradFill>
            <a:gsLst>
              <a:gs pos="0">
                <a:srgbClr val="FFFFFF"/>
              </a:gs>
              <a:gs pos="98000">
                <a:srgbClr val="FFFFFF"/>
              </a:gs>
              <a:gs pos="99055">
                <a:srgbClr val="F6F6F6"/>
              </a:gs>
              <a:gs pos="100000">
                <a:srgbClr val="D8D8D8"/>
              </a:gs>
            </a:gsLst>
            <a:lin ang="5400000" scaled="0"/>
          </a:gradFill>
          <a:ln cap="rnd" cmpd="sng" w="9525">
            <a:solidFill>
              <a:srgbClr val="A2A0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tl" dir="5400000" dist="50800">
              <a:srgbClr val="000000">
                <a:alpha val="2313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5"/>
          <p:cNvSpPr/>
          <p:nvPr/>
        </p:nvSpPr>
        <p:spPr>
          <a:xfrm>
            <a:off x="418597" y="325622"/>
            <a:ext cx="8306809" cy="4114800"/>
          </a:xfrm>
          <a:prstGeom prst="roundRect">
            <a:avLst>
              <a:gd fmla="val 2127" name="adj"/>
            </a:avLst>
          </a:prstGeom>
          <a:gradFill>
            <a:gsLst>
              <a:gs pos="0">
                <a:schemeClr val="lt1"/>
              </a:gs>
              <a:gs pos="55000">
                <a:srgbClr val="DFDFDF"/>
              </a:gs>
              <a:gs pos="100000">
                <a:srgbClr val="9E9E9E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5"/>
          <p:cNvSpPr txBox="1"/>
          <p:nvPr>
            <p:ph type="title"/>
          </p:nvPr>
        </p:nvSpPr>
        <p:spPr>
          <a:xfrm>
            <a:off x="502920" y="3739193"/>
            <a:ext cx="8183880" cy="7886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3600"/>
              <a:buFont typeface="Verdana"/>
              <a:buNone/>
              <a:defRPr b="1" i="0" sz="3600" u="none" cap="none" strike="noStrike">
                <a:solidFill>
                  <a:srgbClr val="6F71A7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" type="body"/>
          </p:nvPr>
        </p:nvSpPr>
        <p:spPr>
          <a:xfrm>
            <a:off x="502920" y="397764"/>
            <a:ext cx="8183880" cy="314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875" spcFirstLastPara="1" rIns="91425" wrap="square" tIns="91425">
            <a:norm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⚫"/>
              <a:defRPr b="0" i="0" sz="2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erdana"/>
              <a:buChar char="◦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68300" lvl="2" marL="13716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54B5C4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63728" lvl="3" marL="1828800" marR="0" rtl="0" algn="l">
              <a:lnSpc>
                <a:spcPct val="100000"/>
              </a:lnSpc>
              <a:spcBef>
                <a:spcPts val="230"/>
              </a:spcBef>
              <a:spcAft>
                <a:spcPts val="0"/>
              </a:spcAft>
              <a:buClr>
                <a:srgbClr val="54B5C4"/>
              </a:buClr>
              <a:buSzPts val="2128"/>
              <a:buFont typeface="Verdana"/>
              <a:buChar char="◦"/>
              <a:defRPr b="0" i="0" sz="1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DD4EE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36550" lvl="5" marL="2743200" marR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DD4EE3"/>
              </a:buClr>
              <a:buSzPts val="1700"/>
              <a:buFont typeface="Verdana"/>
              <a:buChar char="◦"/>
              <a:defRPr b="0" i="0" sz="17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DD4EE3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DD4EE3"/>
              </a:buClr>
              <a:buSzPts val="1500"/>
              <a:buFont typeface="Verdana"/>
              <a:buChar char="◦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DD4EE3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0" type="dt"/>
          </p:nvPr>
        </p:nvSpPr>
        <p:spPr>
          <a:xfrm>
            <a:off x="3776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1" type="ftr"/>
          </p:nvPr>
        </p:nvSpPr>
        <p:spPr>
          <a:xfrm>
            <a:off x="6062328" y="4583907"/>
            <a:ext cx="2286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348328" y="4583907"/>
            <a:ext cx="457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A2A2A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advika112/EcoLit-Quiz-App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"/>
          <p:cNvSpPr txBox="1"/>
          <p:nvPr>
            <p:ph type="title"/>
          </p:nvPr>
        </p:nvSpPr>
        <p:spPr>
          <a:xfrm>
            <a:off x="966952" y="-367850"/>
            <a:ext cx="7073474" cy="45905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2400"/>
              <a:buFont typeface="Verdana"/>
              <a:buNone/>
            </a:pPr>
            <a:r>
              <a:rPr lang="en-GB" sz="2800"/>
              <a:t>Artificial Intelligence Internship Program (AIIP)</a:t>
            </a:r>
            <a:br>
              <a:rPr lang="en-GB" sz="2800"/>
            </a:br>
            <a:r>
              <a:rPr lang="en-GB" sz="2800"/>
              <a:t>Graduation Ceremony</a:t>
            </a:r>
            <a:br>
              <a:rPr lang="en-GB" sz="2800"/>
            </a:br>
            <a:r>
              <a:rPr lang="en-GB" sz="2800"/>
              <a:t>Saturday,10th October, 2026</a:t>
            </a:r>
            <a:br>
              <a:rPr lang="en-GB" sz="2800"/>
            </a:br>
            <a:r>
              <a:rPr lang="en-GB" sz="2800"/>
              <a:t>with</a:t>
            </a:r>
            <a:br>
              <a:rPr lang="en-GB" sz="2800"/>
            </a:br>
            <a:r>
              <a:rPr lang="en-GB" sz="2800"/>
              <a:t>Dr. Ken Kahn</a:t>
            </a:r>
            <a:br>
              <a:rPr lang="en-GB" sz="2800"/>
            </a:br>
            <a:r>
              <a:rPr lang="en-GB" sz="2800"/>
              <a:t>Senior Researcher (Retd.)</a:t>
            </a:r>
            <a:br>
              <a:rPr lang="en-GB" sz="2800"/>
            </a:br>
            <a:r>
              <a:rPr lang="en-GB" sz="2800"/>
              <a:t>University of Oxford, London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607224" y="434578"/>
            <a:ext cx="3931800" cy="594000"/>
          </a:xfrm>
          <a:prstGeom prst="rect">
            <a:avLst/>
          </a:prstGeom>
          <a:noFill/>
          <a:ln cap="flat" cmpd="sng" w="9525">
            <a:solidFill>
              <a:srgbClr val="6F71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46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GB">
                <a:solidFill>
                  <a:srgbClr val="6F71A7"/>
                </a:solidFill>
              </a:rPr>
              <a:t>Introduction</a:t>
            </a:r>
            <a:endParaRPr>
              <a:solidFill>
                <a:srgbClr val="6F71A7"/>
              </a:solidFill>
            </a:endParaRPr>
          </a:p>
        </p:txBody>
      </p:sp>
      <p:sp>
        <p:nvSpPr>
          <p:cNvPr id="103" name="Google Shape;103;p2"/>
          <p:cNvSpPr txBox="1"/>
          <p:nvPr>
            <p:ph idx="2" type="body"/>
          </p:nvPr>
        </p:nvSpPr>
        <p:spPr>
          <a:xfrm>
            <a:off x="4652169" y="434578"/>
            <a:ext cx="3931800" cy="594000"/>
          </a:xfrm>
          <a:prstGeom prst="rect">
            <a:avLst/>
          </a:prstGeom>
          <a:noFill/>
          <a:ln cap="flat" cmpd="sng" w="9525">
            <a:solidFill>
              <a:srgbClr val="6F71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rPr lang="en-GB">
                <a:solidFill>
                  <a:srgbClr val="6F71A7"/>
                </a:solidFill>
              </a:rPr>
              <a:t>Acknowledgements</a:t>
            </a:r>
            <a:endParaRPr>
              <a:solidFill>
                <a:srgbClr val="6F71A7"/>
              </a:solidFill>
            </a:endParaRPr>
          </a:p>
        </p:txBody>
      </p:sp>
      <p:sp>
        <p:nvSpPr>
          <p:cNvPr id="104" name="Google Shape;104;p2"/>
          <p:cNvSpPr txBox="1"/>
          <p:nvPr>
            <p:ph idx="3" type="body"/>
          </p:nvPr>
        </p:nvSpPr>
        <p:spPr>
          <a:xfrm>
            <a:off x="607224" y="1085850"/>
            <a:ext cx="3931800" cy="261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Name: Advika Parmar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Class: 12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Age : 17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Location : Pune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1" marL="5588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br>
              <a:rPr b="1" lang="en-GB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>
            <p:ph idx="4" type="body"/>
          </p:nvPr>
        </p:nvSpPr>
        <p:spPr>
          <a:xfrm>
            <a:off x="4652169" y="1085850"/>
            <a:ext cx="3931800" cy="261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A small vote of thanks for all who have helped me in this journey of App Development – My parents, Clevered, Ms.Mani, Clevered Mentors and Dr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607224" y="434578"/>
            <a:ext cx="3931800" cy="594000"/>
          </a:xfrm>
          <a:prstGeom prst="rect">
            <a:avLst/>
          </a:prstGeom>
          <a:noFill/>
          <a:ln cap="flat" cmpd="sng" w="9525">
            <a:solidFill>
              <a:srgbClr val="6F71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46300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2477"/>
              <a:buNone/>
            </a:pPr>
            <a:r>
              <a:rPr lang="en-GB">
                <a:solidFill>
                  <a:srgbClr val="6F71A7"/>
                </a:solidFill>
              </a:rPr>
              <a:t>Project Introduction</a:t>
            </a:r>
            <a:endParaRPr>
              <a:solidFill>
                <a:srgbClr val="6F71A7"/>
              </a:solidFill>
            </a:endParaRPr>
          </a:p>
        </p:txBody>
      </p:sp>
      <p:sp>
        <p:nvSpPr>
          <p:cNvPr id="111" name="Google Shape;111;p3"/>
          <p:cNvSpPr txBox="1"/>
          <p:nvPr>
            <p:ph idx="2" type="body"/>
          </p:nvPr>
        </p:nvSpPr>
        <p:spPr>
          <a:xfrm>
            <a:off x="4652169" y="434578"/>
            <a:ext cx="3931800" cy="594000"/>
          </a:xfrm>
          <a:prstGeom prst="rect">
            <a:avLst/>
          </a:prstGeom>
          <a:noFill/>
          <a:ln cap="flat" cmpd="sng" w="9525">
            <a:solidFill>
              <a:srgbClr val="6F71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37150" spcFirstLastPara="1" rIns="91425" wrap="square" tIns="91425">
            <a:normAutofit fontScale="77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ct val="103000"/>
              <a:buNone/>
            </a:pPr>
            <a:r>
              <a:rPr lang="en-GB">
                <a:solidFill>
                  <a:srgbClr val="6F71A7"/>
                </a:solidFill>
              </a:rPr>
              <a:t>Social Media Link of Project</a:t>
            </a:r>
            <a:endParaRPr>
              <a:solidFill>
                <a:srgbClr val="6F71A7"/>
              </a:solidFill>
            </a:endParaRPr>
          </a:p>
        </p:txBody>
      </p:sp>
      <p:sp>
        <p:nvSpPr>
          <p:cNvPr id="112" name="Google Shape;112;p3"/>
          <p:cNvSpPr txBox="1"/>
          <p:nvPr>
            <p:ph idx="3" type="body"/>
          </p:nvPr>
        </p:nvSpPr>
        <p:spPr>
          <a:xfrm>
            <a:off x="607225" y="1085850"/>
            <a:ext cx="3964800" cy="261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287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I created this Finance Quiz to help spread Financial and Economic Literacy and make this knowledge more accessible by the </a:t>
            </a:r>
            <a:r>
              <a:rPr lang="en-GB" sz="1450"/>
              <a:t>underprivileged</a:t>
            </a:r>
            <a:r>
              <a:rPr lang="en-GB" sz="1450"/>
              <a:t>. </a:t>
            </a:r>
            <a:endParaRPr sz="145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/>
              <a:t>Through my organisation - EcoLit, an initiative to spread economic literacy, I will take this project outside of the Internship Program and into the real world and continue to improve it.</a:t>
            </a:r>
            <a:endParaRPr sz="1450"/>
          </a:p>
        </p:txBody>
      </p:sp>
      <p:sp>
        <p:nvSpPr>
          <p:cNvPr id="113" name="Google Shape;113;p3"/>
          <p:cNvSpPr txBox="1"/>
          <p:nvPr>
            <p:ph idx="4" type="body"/>
          </p:nvPr>
        </p:nvSpPr>
        <p:spPr>
          <a:xfrm>
            <a:off x="4652169" y="1085850"/>
            <a:ext cx="3931800" cy="261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182875" spcFirstLastPara="1" rIns="91425" wrap="square" tIns="91425">
            <a:normAutofit/>
          </a:bodyPr>
          <a:lstStyle/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Youtube Link: 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1" lang="en-GB" sz="1600">
                <a:latin typeface="Arial"/>
                <a:ea typeface="Arial"/>
                <a:cs typeface="Arial"/>
                <a:sym typeface="Arial"/>
              </a:rPr>
              <a:t>Github Link: </a:t>
            </a:r>
            <a:r>
              <a:rPr b="1" lang="en-GB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https://github.com/advika112/EcoLit-Quiz-App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 b="1"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1383754" y="1890413"/>
            <a:ext cx="63729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F71A7"/>
              </a:buClr>
              <a:buSzPts val="2400"/>
              <a:buFont typeface="Verdana"/>
              <a:buNone/>
            </a:pPr>
            <a:r>
              <a:rPr lang="en-GB" sz="3200"/>
              <a:t>Thank you!!!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pect">
  <a:themeElements>
    <a:clrScheme name="Urban">
      <a:dk1>
        <a:srgbClr val="000000"/>
      </a:dk1>
      <a:lt1>
        <a:srgbClr val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2023-09-27T14:28:00Z</dcterms:created>
  <dc:creator>Devin Patel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4E960C3C42F34F5CA0449FEDAB5AF9B9_13</vt:lpwstr>
  </property>
  <property fmtid="{D5CDD505-2E9C-101B-9397-08002B2CF9AE}" pid="3" name="KSOProductBuildVer">
    <vt:lpwstr>1033-12.2.0.13431</vt:lpwstr>
  </property>
</Properties>
</file>